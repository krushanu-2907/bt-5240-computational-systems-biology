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6" d="100"/>
          <a:sy n="66" d="100"/>
        </p:scale>
        <p:origin x="90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2D67C-989E-9674-B80C-7E7C9B21CF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D540144F-FF2F-C2C3-B7F7-C94560DDF5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18C2AF76-46DD-E916-0D9F-B539003BF14F}"/>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5" name="Footer Placeholder 4">
            <a:extLst>
              <a:ext uri="{FF2B5EF4-FFF2-40B4-BE49-F238E27FC236}">
                <a16:creationId xmlns:a16="http://schemas.microsoft.com/office/drawing/2014/main" id="{A6C79D97-E226-8543-E1C0-4C1527E259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E8537C-A996-852D-9DD7-1062886EC471}"/>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2171334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DBA55-5FC2-64EA-C365-D560444F798E}"/>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0CABEE60-D3ED-EB50-4F75-ECBED11382F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019AB27-1069-402C-7E93-5AE4D3753C52}"/>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5" name="Footer Placeholder 4">
            <a:extLst>
              <a:ext uri="{FF2B5EF4-FFF2-40B4-BE49-F238E27FC236}">
                <a16:creationId xmlns:a16="http://schemas.microsoft.com/office/drawing/2014/main" id="{341D2618-3525-82DA-7B82-50CED3DD39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8002CE-C2E6-A204-0871-61C519502B41}"/>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2834730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456A7-FF3D-569E-132C-99B4043C31D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3A2F5DE6-680D-907C-39E2-0267DB0092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49F4788-0E6C-34D6-9D9E-02F0028C1404}"/>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5" name="Footer Placeholder 4">
            <a:extLst>
              <a:ext uri="{FF2B5EF4-FFF2-40B4-BE49-F238E27FC236}">
                <a16:creationId xmlns:a16="http://schemas.microsoft.com/office/drawing/2014/main" id="{1F1402E5-CC31-F59C-88C6-CB94E42162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8ADA0F-90EB-366E-00C3-68D13BAA5CE4}"/>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138942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AF552-70B7-B53A-A033-2ABF9C2AFB26}"/>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5F1FE912-4DB6-7C71-E5E8-83DA55961F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132C7581-EBD7-B3CB-BAA2-CE46B83E112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17907483-EBE2-9425-B587-A09063F4ACE6}"/>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6" name="Footer Placeholder 5">
            <a:extLst>
              <a:ext uri="{FF2B5EF4-FFF2-40B4-BE49-F238E27FC236}">
                <a16:creationId xmlns:a16="http://schemas.microsoft.com/office/drawing/2014/main" id="{94E23211-CBE4-2A6F-AAAE-1140C1F373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A333A9-9E68-6CB7-B830-2D397DA73F62}"/>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162338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406E5-A656-5EFD-CA8B-9930E5B31F45}"/>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7EA703A3-2D04-956B-95B0-00A02714C8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E4C8A93-0120-85DF-5F8B-9671A0C5E36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CDF701AF-1B75-72FE-E4CE-721E734ECD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11E4FB2-95AA-1F97-D1AF-47F56EB7E88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ABF40C01-32AA-B3C3-4B73-8693984E6D4D}"/>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8" name="Footer Placeholder 7">
            <a:extLst>
              <a:ext uri="{FF2B5EF4-FFF2-40B4-BE49-F238E27FC236}">
                <a16:creationId xmlns:a16="http://schemas.microsoft.com/office/drawing/2014/main" id="{89C96831-DC00-408A-C1AA-0583FC36B5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FAB22E3-AAA7-16ED-B121-BF41328659BE}"/>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2625640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2FCBF-7501-34B0-448B-57C10081E8A2}"/>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73DD425F-4755-810C-996A-153CD5BBB82C}"/>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4" name="Footer Placeholder 3">
            <a:extLst>
              <a:ext uri="{FF2B5EF4-FFF2-40B4-BE49-F238E27FC236}">
                <a16:creationId xmlns:a16="http://schemas.microsoft.com/office/drawing/2014/main" id="{10126A39-F1C4-BBC8-DEDD-7CA07A0D14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D4376C4-E40A-2A77-813B-1A9CE44B622A}"/>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238793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EAF1BF-A56E-00D3-61A8-52BDAB1F9F57}"/>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3" name="Footer Placeholder 2">
            <a:extLst>
              <a:ext uri="{FF2B5EF4-FFF2-40B4-BE49-F238E27FC236}">
                <a16:creationId xmlns:a16="http://schemas.microsoft.com/office/drawing/2014/main" id="{C717AAC9-D318-8BEF-CBC6-3AC9C1626F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CF63B9-8D8A-9CCD-AEDC-DEB6FE159BC0}"/>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332514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64EE-0D43-7102-66BB-80AB9DE358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415EAA23-E372-D073-8CE9-5A617B0838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BF8B4DF5-B363-3473-6E92-AF2F9349D6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3D1F5E6-FAE7-D7E2-8660-F99F5D9B09C8}"/>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6" name="Footer Placeholder 5">
            <a:extLst>
              <a:ext uri="{FF2B5EF4-FFF2-40B4-BE49-F238E27FC236}">
                <a16:creationId xmlns:a16="http://schemas.microsoft.com/office/drawing/2014/main" id="{E3E8132E-DE1D-306B-5B32-4AFD6BE59B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5F7F3AA-9DD5-B1E0-650A-F41F96EC3073}"/>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3106523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27EB0-0377-BE06-ABF5-C5B6BAF4A9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F5732035-748A-637F-803F-440771ADE0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607F8A-FCA5-FD29-67E9-047BAD10CB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5E14DF-C7AA-29DD-446D-70EF386613A5}"/>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6" name="Footer Placeholder 5">
            <a:extLst>
              <a:ext uri="{FF2B5EF4-FFF2-40B4-BE49-F238E27FC236}">
                <a16:creationId xmlns:a16="http://schemas.microsoft.com/office/drawing/2014/main" id="{19B8261E-4BA2-5DE2-229E-8393CDDA04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38982C-379F-033B-39F2-8F2B77BB5661}"/>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1369747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63585-3E68-5168-345E-61AA4C8BFAA3}"/>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0B78890E-4CC8-9E32-4834-6BBA1576945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90C6151-D2C7-3F26-578F-B114416CA796}"/>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5" name="Footer Placeholder 4">
            <a:extLst>
              <a:ext uri="{FF2B5EF4-FFF2-40B4-BE49-F238E27FC236}">
                <a16:creationId xmlns:a16="http://schemas.microsoft.com/office/drawing/2014/main" id="{6D9A790B-4702-0133-A010-92A08E43B6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95E5D5-69FF-BDFC-D163-24DD6589B9F8}"/>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234393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783A03-1506-1BF6-5EA5-6786FDB4DE7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E0539A4C-9CD2-7122-60B9-571857BA65E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8CC40F3F-E7E2-83B2-25B0-D971E774B727}"/>
              </a:ext>
            </a:extLst>
          </p:cNvPr>
          <p:cNvSpPr>
            <a:spLocks noGrp="1"/>
          </p:cNvSpPr>
          <p:nvPr>
            <p:ph type="dt" sz="half" idx="10"/>
          </p:nvPr>
        </p:nvSpPr>
        <p:spPr/>
        <p:txBody>
          <a:bodyPr/>
          <a:lstStyle/>
          <a:p>
            <a:fld id="{1302FE00-A62A-4DD6-BF31-0E92A8E52D14}" type="datetimeFigureOut">
              <a:rPr lang="en-IN" smtClean="0"/>
              <a:t>06-04-2026</a:t>
            </a:fld>
            <a:endParaRPr lang="en-IN"/>
          </a:p>
        </p:txBody>
      </p:sp>
      <p:sp>
        <p:nvSpPr>
          <p:cNvPr id="5" name="Footer Placeholder 4">
            <a:extLst>
              <a:ext uri="{FF2B5EF4-FFF2-40B4-BE49-F238E27FC236}">
                <a16:creationId xmlns:a16="http://schemas.microsoft.com/office/drawing/2014/main" id="{4D022C5F-2A15-CA46-910E-4F83AFF668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CA7EA8-FDCF-75A8-AACA-A8AF5CF08613}"/>
              </a:ext>
            </a:extLst>
          </p:cNvPr>
          <p:cNvSpPr>
            <a:spLocks noGrp="1"/>
          </p:cNvSpPr>
          <p:nvPr>
            <p:ph type="sldNum" sz="quarter" idx="12"/>
          </p:nvPr>
        </p:nvSpPr>
        <p:spPr/>
        <p:txBody>
          <a:bodyPr/>
          <a:lstStyle/>
          <a:p>
            <a:fld id="{81CF2834-F246-41AE-9A00-B50CD2FD5BF0}" type="slidenum">
              <a:rPr lang="en-IN" smtClean="0"/>
              <a:t>‹#›</a:t>
            </a:fld>
            <a:endParaRPr lang="en-IN"/>
          </a:p>
        </p:txBody>
      </p:sp>
    </p:spTree>
    <p:extLst>
      <p:ext uri="{BB962C8B-B14F-4D97-AF65-F5344CB8AC3E}">
        <p14:creationId xmlns:p14="http://schemas.microsoft.com/office/powerpoint/2010/main" val="110882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222E96-0137-8DC7-36AB-8B3D671A7D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13E8CB0C-30E4-C86D-AA65-59528AB35F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C2BE983F-8FFA-D0C3-89D9-4B9EF0E269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02FE00-A62A-4DD6-BF31-0E92A8E52D14}" type="datetimeFigureOut">
              <a:rPr lang="en-IN" smtClean="0"/>
              <a:t>06-04-2026</a:t>
            </a:fld>
            <a:endParaRPr lang="en-IN"/>
          </a:p>
        </p:txBody>
      </p:sp>
      <p:sp>
        <p:nvSpPr>
          <p:cNvPr id="5" name="Footer Placeholder 4">
            <a:extLst>
              <a:ext uri="{FF2B5EF4-FFF2-40B4-BE49-F238E27FC236}">
                <a16:creationId xmlns:a16="http://schemas.microsoft.com/office/drawing/2014/main" id="{3278D1AB-D1F4-970C-99BA-14EECC404F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266A2A-190E-551D-A172-C4C6D5ABDF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CF2834-F246-41AE-9A00-B50CD2FD5BF0}" type="slidenum">
              <a:rPr lang="en-IN" smtClean="0"/>
              <a:t>‹#›</a:t>
            </a:fld>
            <a:endParaRPr lang="en-IN"/>
          </a:p>
        </p:txBody>
      </p:sp>
    </p:spTree>
    <p:extLst>
      <p:ext uri="{BB962C8B-B14F-4D97-AF65-F5344CB8AC3E}">
        <p14:creationId xmlns:p14="http://schemas.microsoft.com/office/powerpoint/2010/main" val="24698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hyperlink" Target="https://doi.org/10.1111/j.1432-1033.1968.tb00175.x" TargetMode="External"/><Relationship Id="rId1" Type="http://schemas.openxmlformats.org/officeDocument/2006/relationships/slideLayout" Target="../slideLayouts/slideLayout1.xml"/><Relationship Id="rId6" Type="http://schemas.openxmlformats.org/officeDocument/2006/relationships/hyperlink" Target="https://colab.research.google.com/drive/169NRHsUEbPvbOcKenT-kMJXktL3CALD0?usp=sharing"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3692003-FAB7-07FD-93EB-13461E92DA7E}"/>
              </a:ext>
            </a:extLst>
          </p:cNvPr>
          <p:cNvSpPr>
            <a:spLocks noGrp="1"/>
          </p:cNvSpPr>
          <p:nvPr>
            <p:ph type="subTitle" idx="1"/>
          </p:nvPr>
        </p:nvSpPr>
        <p:spPr>
          <a:xfrm>
            <a:off x="0" y="0"/>
            <a:ext cx="12192000" cy="839449"/>
          </a:xfrm>
          <a:solidFill>
            <a:schemeClr val="accent1">
              <a:lumMod val="75000"/>
            </a:schemeClr>
          </a:solidFill>
        </p:spPr>
        <p:txBody>
          <a:bodyPr>
            <a:normAutofit/>
          </a:bodyPr>
          <a:lstStyle/>
          <a:p>
            <a:pPr algn="l">
              <a:lnSpc>
                <a:spcPct val="150000"/>
              </a:lnSpc>
            </a:pPr>
            <a:r>
              <a:rPr lang="en-GB" sz="2800" dirty="0">
                <a:solidFill>
                  <a:schemeClr val="bg1"/>
                </a:solidFill>
                <a:effectLst>
                  <a:outerShdw blurRad="38100" dist="38100" dir="2700000" algn="tl">
                    <a:srgbClr val="000000">
                      <a:alpha val="43137"/>
                    </a:srgbClr>
                  </a:outerShdw>
                </a:effectLst>
                <a:latin typeface="Candara" panose="020E0502030303020204" pitchFamily="34" charset="0"/>
                <a:cs typeface="Arial" panose="020B0604020202020204" pitchFamily="34" charset="0"/>
              </a:rPr>
              <a:t>The Se’lkov Model of Oscillations during Glycolysis (</a:t>
            </a:r>
            <a:r>
              <a:rPr lang="en-GB" sz="2800" dirty="0">
                <a:solidFill>
                  <a:schemeClr val="bg1"/>
                </a:solidFill>
                <a:effectLst>
                  <a:outerShdw blurRad="38100" dist="38100" dir="2700000" algn="tl">
                    <a:srgbClr val="000000">
                      <a:alpha val="43137"/>
                    </a:srgbClr>
                  </a:outerShdw>
                </a:effectLst>
                <a:latin typeface="Candara" panose="020E0502030303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Se’lkov, 1986</a:t>
            </a:r>
            <a:r>
              <a:rPr lang="en-GB" sz="2800" dirty="0">
                <a:solidFill>
                  <a:schemeClr val="bg1"/>
                </a:solidFill>
                <a:effectLst>
                  <a:outerShdw blurRad="38100" dist="38100" dir="2700000" algn="tl">
                    <a:srgbClr val="000000">
                      <a:alpha val="43137"/>
                    </a:srgbClr>
                  </a:outerShdw>
                </a:effectLst>
                <a:latin typeface="Candara" panose="020E0502030303020204" pitchFamily="34" charset="0"/>
                <a:cs typeface="Arial" panose="020B0604020202020204" pitchFamily="34" charset="0"/>
              </a:rPr>
              <a:t>)</a:t>
            </a:r>
            <a:endParaRPr lang="en-IN" sz="2800" dirty="0">
              <a:solidFill>
                <a:schemeClr val="bg1"/>
              </a:solidFill>
              <a:effectLst>
                <a:outerShdw blurRad="38100" dist="38100" dir="2700000" algn="tl">
                  <a:srgbClr val="000000">
                    <a:alpha val="43137"/>
                  </a:srgbClr>
                </a:outerShdw>
              </a:effectLst>
              <a:latin typeface="Candara" panose="020E0502030303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A2E1D49-17CE-DF6B-6465-0C5E7C52554F}"/>
              </a:ext>
            </a:extLst>
          </p:cNvPr>
          <p:cNvSpPr txBox="1"/>
          <p:nvPr/>
        </p:nvSpPr>
        <p:spPr>
          <a:xfrm>
            <a:off x="0" y="3081483"/>
            <a:ext cx="3269905"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Aspects of the Model</a:t>
            </a:r>
          </a:p>
        </p:txBody>
      </p:sp>
      <p:sp>
        <p:nvSpPr>
          <p:cNvPr id="5" name="TextBox 4">
            <a:extLst>
              <a:ext uri="{FF2B5EF4-FFF2-40B4-BE49-F238E27FC236}">
                <a16:creationId xmlns:a16="http://schemas.microsoft.com/office/drawing/2014/main" id="{6746C5E7-706F-A7F9-4E00-30D37016345A}"/>
              </a:ext>
            </a:extLst>
          </p:cNvPr>
          <p:cNvSpPr txBox="1"/>
          <p:nvPr/>
        </p:nvSpPr>
        <p:spPr>
          <a:xfrm>
            <a:off x="8529" y="802596"/>
            <a:ext cx="5801193" cy="2369880"/>
          </a:xfrm>
          <a:prstGeom prst="rect">
            <a:avLst/>
          </a:prstGeom>
          <a:noFill/>
        </p:spPr>
        <p:txBody>
          <a:bodyPr wrap="square"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Description of the Model</a:t>
            </a:r>
          </a:p>
          <a:p>
            <a:pPr marL="285750" indent="-285750">
              <a:buFont typeface="Arial" panose="020B0604020202020204" pitchFamily="34" charset="0"/>
              <a:buChar char="•"/>
            </a:pPr>
            <a:r>
              <a:rPr lang="en-GB" sz="1600" dirty="0">
                <a:latin typeface="Candara" panose="020E0502030303020204" pitchFamily="34" charset="0"/>
              </a:rPr>
              <a:t>An open monosubstrate enzyme reaction with substrate inhibition and product inhibition, as a model for the reaction catalysed by Phosphofructokinase, which utilizes ATP to phosphorylate Fructose-6-Phosphate, producing ADP and Fructose-1,6-bisphosphate during Glycolysis.</a:t>
            </a:r>
            <a:endParaRPr lang="en-IN" sz="1600" dirty="0">
              <a:latin typeface="Candara" panose="020E0502030303020204" pitchFamily="34" charset="0"/>
            </a:endParaRPr>
          </a:p>
          <a:p>
            <a:pPr marL="285750" indent="-285750">
              <a:buFont typeface="Arial" panose="020B0604020202020204" pitchFamily="34" charset="0"/>
              <a:buChar char="•"/>
            </a:pPr>
            <a:r>
              <a:rPr lang="en-GB" sz="1600" dirty="0">
                <a:latin typeface="Candara" panose="020E0502030303020204" pitchFamily="34" charset="0"/>
              </a:rPr>
              <a:t>The model provides conditions under which limit cycle oscillations can arise in such reaction systems, which align with experimental conditions.</a:t>
            </a:r>
            <a:endParaRPr lang="en-IN" sz="1600" dirty="0">
              <a:latin typeface="Candara" panose="020E0502030303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48DFC11-AFDB-D715-3B7E-C238AC7329CC}"/>
                  </a:ext>
                </a:extLst>
              </p:cNvPr>
              <p:cNvSpPr txBox="1"/>
              <p:nvPr/>
            </p:nvSpPr>
            <p:spPr>
              <a:xfrm>
                <a:off x="0" y="4452125"/>
                <a:ext cx="5877557" cy="2369880"/>
              </a:xfrm>
              <a:prstGeom prst="rect">
                <a:avLst/>
              </a:prstGeom>
              <a:noFill/>
            </p:spPr>
            <p:txBody>
              <a:bodyPr wrap="square"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Assumptions of the Model</a:t>
                </a:r>
                <a:endParaRPr lang="en-IN" sz="2000" b="1" dirty="0">
                  <a:effectLst>
                    <a:outerShdw blurRad="38100" dist="38100" dir="2700000" algn="tl">
                      <a:srgbClr val="000000">
                        <a:alpha val="43137"/>
                      </a:srgbClr>
                    </a:outerShdw>
                  </a:effectLst>
                  <a:latin typeface="Candara" panose="020E0502030303020204" pitchFamily="34" charset="0"/>
                </a:endParaRPr>
              </a:p>
              <a:p>
                <a:pPr marL="285750" indent="-285750">
                  <a:buFont typeface="Arial" panose="020B0604020202020204" pitchFamily="34" charset="0"/>
                  <a:buChar char="•"/>
                </a:pPr>
                <a:r>
                  <a:rPr lang="en-GB" sz="1600" dirty="0"/>
                  <a:t>Concentrations of Fructose-6-phosphate and Fructose-1,6-phosphate are considered to be held constant.</a:t>
                </a:r>
              </a:p>
              <a:p>
                <a:pPr marL="285750" indent="-285750">
                  <a:buFont typeface="Arial" panose="020B0604020202020204" pitchFamily="34" charset="0"/>
                  <a:buChar char="•"/>
                </a:pPr>
                <a:r>
                  <a:rPr lang="en-GB" sz="1600" dirty="0"/>
                  <a:t>For the sake of simplicity, the activating effects of both AMP and ADP are attributed to ADP alone.</a:t>
                </a:r>
              </a:p>
              <a:p>
                <a:pPr marL="285750" indent="-285750">
                  <a:buFont typeface="Arial" panose="020B0604020202020204" pitchFamily="34" charset="0"/>
                  <a:buChar char="•"/>
                </a:pPr>
                <a:r>
                  <a:rPr lang="en-GB" sz="1600" dirty="0"/>
                  <a:t>The Phosphofructokinase enzyme is considered to not be saturated since the glycolytic flux is much lower than </a:t>
                </a:r>
                <a14:m>
                  <m:oMath xmlns:m="http://schemas.openxmlformats.org/officeDocument/2006/math">
                    <m:sSub>
                      <m:sSubPr>
                        <m:ctrlPr>
                          <a:rPr lang="en-IN" sz="1600" i="1">
                            <a:latin typeface="Cambria Math" panose="02040503050406030204" pitchFamily="18" charset="0"/>
                          </a:rPr>
                        </m:ctrlPr>
                      </m:sSubPr>
                      <m:e>
                        <m:r>
                          <a:rPr lang="en-GB" sz="1600" i="1">
                            <a:latin typeface="Cambria Math" panose="02040503050406030204" pitchFamily="18" charset="0"/>
                          </a:rPr>
                          <m:t>𝑉</m:t>
                        </m:r>
                      </m:e>
                      <m:sub>
                        <m:r>
                          <a:rPr lang="en-GB" sz="1600" i="1">
                            <a:latin typeface="Cambria Math" panose="02040503050406030204" pitchFamily="18" charset="0"/>
                          </a:rPr>
                          <m:t>𝑚𝑎𝑥</m:t>
                        </m:r>
                      </m:sub>
                    </m:sSub>
                  </m:oMath>
                </a14:m>
                <a:r>
                  <a:rPr lang="en-GB" sz="1600" dirty="0"/>
                  <a:t> of the enzyme and sink reactions for ADP and Fructose-1,6-bisphosphate.</a:t>
                </a:r>
                <a:endParaRPr lang="en-IN" dirty="0"/>
              </a:p>
            </p:txBody>
          </p:sp>
        </mc:Choice>
        <mc:Fallback xmlns="">
          <p:sp>
            <p:nvSpPr>
              <p:cNvPr id="6" name="TextBox 5">
                <a:extLst>
                  <a:ext uri="{FF2B5EF4-FFF2-40B4-BE49-F238E27FC236}">
                    <a16:creationId xmlns:a16="http://schemas.microsoft.com/office/drawing/2014/main" id="{248DFC11-AFDB-D715-3B7E-C238AC7329CC}"/>
                  </a:ext>
                </a:extLst>
              </p:cNvPr>
              <p:cNvSpPr txBox="1">
                <a:spLocks noRot="1" noChangeAspect="1" noMove="1" noResize="1" noEditPoints="1" noAdjustHandles="1" noChangeArrowheads="1" noChangeShapeType="1" noTextEdit="1"/>
              </p:cNvSpPr>
              <p:nvPr/>
            </p:nvSpPr>
            <p:spPr>
              <a:xfrm>
                <a:off x="0" y="4452125"/>
                <a:ext cx="5877557" cy="2369880"/>
              </a:xfrm>
              <a:prstGeom prst="rect">
                <a:avLst/>
              </a:prstGeom>
              <a:blipFill>
                <a:blip r:embed="rId3"/>
                <a:stretch>
                  <a:fillRect l="-1141" t="-1542" r="-104" b="-231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BDC9FD4-1485-4FA9-BF8C-A1DB9FBF131A}"/>
                  </a:ext>
                </a:extLst>
              </p:cNvPr>
              <p:cNvSpPr txBox="1"/>
              <p:nvPr/>
            </p:nvSpPr>
            <p:spPr>
              <a:xfrm>
                <a:off x="5877557" y="3293842"/>
                <a:ext cx="6314443" cy="1147494"/>
              </a:xfrm>
              <a:prstGeom prst="rect">
                <a:avLst/>
              </a:prstGeom>
              <a:noFill/>
            </p:spPr>
            <p:txBody>
              <a:bodyPr wrap="square" rtlCol="0">
                <a:spAutoFit/>
              </a:bodyPr>
              <a:lstStyle/>
              <a:p>
                <a14:m>
                  <m:oMath xmlns:m="http://schemas.openxmlformats.org/officeDocument/2006/math">
                    <m:f>
                      <m:fPr>
                        <m:ctrlPr>
                          <a:rPr lang="en-IN" sz="2400" i="1" kern="100" smtClean="0">
                            <a:latin typeface="Cambria Math" panose="02040503050406030204" pitchFamily="18" charset="0"/>
                            <a:ea typeface="Calibri" panose="020F0502020204030204" pitchFamily="34" charset="0"/>
                            <a:cs typeface="Mangal" panose="02040503050203030202" pitchFamily="18" charset="0"/>
                          </a:rPr>
                        </m:ctrlPr>
                      </m:fPr>
                      <m:num>
                        <m:r>
                          <a:rPr lang="en-US" sz="2400" i="1" kern="100">
                            <a:latin typeface="Cambria Math" panose="02040503050406030204" pitchFamily="18" charset="0"/>
                            <a:ea typeface="Calibri" panose="020F0502020204030204" pitchFamily="34" charset="0"/>
                            <a:cs typeface="Mangal" panose="02040503050203030202" pitchFamily="18" charset="0"/>
                          </a:rPr>
                          <m:t>𝑑𝑥</m:t>
                        </m:r>
                      </m:num>
                      <m:den>
                        <m:r>
                          <a:rPr lang="en-US" sz="2400" i="1" kern="100">
                            <a:latin typeface="Cambria Math" panose="02040503050406030204" pitchFamily="18" charset="0"/>
                            <a:ea typeface="Calibri" panose="020F0502020204030204" pitchFamily="34" charset="0"/>
                            <a:cs typeface="Mangal" panose="02040503050203030202" pitchFamily="18" charset="0"/>
                          </a:rPr>
                          <m:t>𝑑</m:t>
                        </m:r>
                        <m:r>
                          <a:rPr lang="en-US" sz="2400" i="1" kern="100">
                            <a:latin typeface="Cambria Math" panose="02040503050406030204" pitchFamily="18" charset="0"/>
                            <a:ea typeface="Calibri" panose="020F0502020204030204" pitchFamily="34" charset="0"/>
                            <a:cs typeface="Mangal" panose="02040503050203030202" pitchFamily="18" charset="0"/>
                          </a:rPr>
                          <m:t>𝜏</m:t>
                        </m:r>
                      </m:den>
                    </m:f>
                    <m:r>
                      <a:rPr lang="en-US" sz="2400" i="1" kern="100">
                        <a:latin typeface="Cambria Math" panose="02040503050406030204" pitchFamily="18" charset="0"/>
                        <a:ea typeface="Calibri" panose="020F0502020204030204" pitchFamily="34" charset="0"/>
                        <a:cs typeface="Mangal" panose="02040503050203030202" pitchFamily="18" charset="0"/>
                      </a:rPr>
                      <m:t> = 1 − </m:t>
                    </m:r>
                    <m:r>
                      <a:rPr lang="en-US" sz="2400" i="1" kern="100">
                        <a:latin typeface="Cambria Math" panose="02040503050406030204" pitchFamily="18" charset="0"/>
                        <a:ea typeface="Calibri" panose="020F0502020204030204" pitchFamily="34" charset="0"/>
                        <a:cs typeface="Mangal" panose="02040503050203030202" pitchFamily="18" charset="0"/>
                      </a:rPr>
                      <m:t>𝑥</m:t>
                    </m:r>
                    <m:sSup>
                      <m:sSupPr>
                        <m:ctrlPr>
                          <a:rPr lang="en-IN" sz="2400" i="1" kern="100">
                            <a:latin typeface="Cambria Math" panose="02040503050406030204" pitchFamily="18" charset="0"/>
                            <a:ea typeface="Calibri" panose="020F0502020204030204" pitchFamily="34" charset="0"/>
                            <a:cs typeface="Mangal" panose="02040503050203030202" pitchFamily="18" charset="0"/>
                          </a:rPr>
                        </m:ctrlPr>
                      </m:sSupPr>
                      <m:e>
                        <m:r>
                          <a:rPr lang="en-US" sz="2400" i="1" kern="100">
                            <a:latin typeface="Cambria Math" panose="02040503050406030204" pitchFamily="18" charset="0"/>
                            <a:ea typeface="Calibri" panose="020F0502020204030204" pitchFamily="34" charset="0"/>
                            <a:cs typeface="Mangal" panose="02040503050203030202" pitchFamily="18" charset="0"/>
                          </a:rPr>
                          <m:t>𝑦</m:t>
                        </m:r>
                      </m:e>
                      <m:sup>
                        <m:r>
                          <a:rPr lang="en-US" sz="2400" i="1" kern="100">
                            <a:latin typeface="Cambria Math" panose="02040503050406030204" pitchFamily="18" charset="0"/>
                            <a:ea typeface="Calibri" panose="020F0502020204030204" pitchFamily="34" charset="0"/>
                            <a:cs typeface="Mangal" panose="02040503050203030202" pitchFamily="18" charset="0"/>
                          </a:rPr>
                          <m:t>𝛾</m:t>
                        </m:r>
                      </m:sup>
                    </m:sSup>
                  </m:oMath>
                </a14:m>
                <a:r>
                  <a:rPr lang="en-IN" sz="2400" dirty="0">
                    <a:latin typeface="Candara" panose="020E0502030303020204" pitchFamily="34" charset="0"/>
                  </a:rPr>
                  <a:t> </a:t>
                </a:r>
                <a:r>
                  <a:rPr lang="en-IN" dirty="0">
                    <a:latin typeface="Candara" panose="020E0502030303020204" pitchFamily="34" charset="0"/>
                  </a:rPr>
                  <a:t>and  </a:t>
                </a:r>
                <a14:m>
                  <m:oMath xmlns:m="http://schemas.openxmlformats.org/officeDocument/2006/math">
                    <m:f>
                      <m:fPr>
                        <m:ctrlPr>
                          <a:rPr lang="en-IN" sz="2400" i="1" kern="100">
                            <a:latin typeface="Cambria Math" panose="02040503050406030204" pitchFamily="18" charset="0"/>
                            <a:ea typeface="Calibri" panose="020F0502020204030204" pitchFamily="34" charset="0"/>
                            <a:cs typeface="Mangal" panose="02040503050203030202" pitchFamily="18" charset="0"/>
                          </a:rPr>
                        </m:ctrlPr>
                      </m:fPr>
                      <m:num>
                        <m:r>
                          <a:rPr lang="en-US" sz="2400" i="1" kern="100">
                            <a:latin typeface="Cambria Math" panose="02040503050406030204" pitchFamily="18" charset="0"/>
                            <a:ea typeface="Calibri" panose="020F0502020204030204" pitchFamily="34" charset="0"/>
                            <a:cs typeface="Mangal" panose="02040503050203030202" pitchFamily="18" charset="0"/>
                          </a:rPr>
                          <m:t>𝑑𝑦</m:t>
                        </m:r>
                      </m:num>
                      <m:den>
                        <m:r>
                          <a:rPr lang="en-US" sz="2400" i="1" kern="100">
                            <a:latin typeface="Cambria Math" panose="02040503050406030204" pitchFamily="18" charset="0"/>
                            <a:ea typeface="Calibri" panose="020F0502020204030204" pitchFamily="34" charset="0"/>
                            <a:cs typeface="Mangal" panose="02040503050203030202" pitchFamily="18" charset="0"/>
                          </a:rPr>
                          <m:t>𝑑</m:t>
                        </m:r>
                        <m:r>
                          <a:rPr lang="en-US" sz="2400" i="1" kern="100">
                            <a:latin typeface="Cambria Math" panose="02040503050406030204" pitchFamily="18" charset="0"/>
                            <a:ea typeface="Calibri" panose="020F0502020204030204" pitchFamily="34" charset="0"/>
                            <a:cs typeface="Mangal" panose="02040503050203030202" pitchFamily="18" charset="0"/>
                          </a:rPr>
                          <m:t>𝜏</m:t>
                        </m:r>
                      </m:den>
                    </m:f>
                    <m:r>
                      <a:rPr lang="en-US" sz="2400" i="1" kern="100">
                        <a:latin typeface="Cambria Math" panose="02040503050406030204" pitchFamily="18" charset="0"/>
                        <a:ea typeface="Calibri" panose="020F0502020204030204" pitchFamily="34" charset="0"/>
                        <a:cs typeface="Mangal" panose="02040503050203030202" pitchFamily="18" charset="0"/>
                      </a:rPr>
                      <m:t>=</m:t>
                    </m:r>
                    <m:r>
                      <a:rPr lang="en-US" sz="2400" i="1" kern="100">
                        <a:latin typeface="Cambria Math" panose="02040503050406030204" pitchFamily="18" charset="0"/>
                        <a:ea typeface="Calibri" panose="020F0502020204030204" pitchFamily="34" charset="0"/>
                        <a:cs typeface="Mangal" panose="02040503050203030202" pitchFamily="18" charset="0"/>
                      </a:rPr>
                      <m:t>𝛼</m:t>
                    </m:r>
                    <m:r>
                      <a:rPr lang="en-US" sz="2400" i="1" kern="100">
                        <a:latin typeface="Cambria Math" panose="02040503050406030204" pitchFamily="18" charset="0"/>
                        <a:ea typeface="Calibri" panose="020F0502020204030204" pitchFamily="34" charset="0"/>
                        <a:cs typeface="Mangal" panose="02040503050203030202" pitchFamily="18" charset="0"/>
                      </a:rPr>
                      <m:t>𝑦</m:t>
                    </m:r>
                    <m:d>
                      <m:dPr>
                        <m:ctrlPr>
                          <a:rPr lang="en-IN" sz="2400" i="1" kern="100">
                            <a:latin typeface="Cambria Math" panose="02040503050406030204" pitchFamily="18" charset="0"/>
                            <a:ea typeface="Calibri" panose="020F0502020204030204" pitchFamily="34" charset="0"/>
                            <a:cs typeface="Mangal" panose="02040503050203030202" pitchFamily="18" charset="0"/>
                          </a:rPr>
                        </m:ctrlPr>
                      </m:dPr>
                      <m:e>
                        <m:r>
                          <a:rPr lang="en-US" sz="2400" i="1" kern="100">
                            <a:latin typeface="Cambria Math" panose="02040503050406030204" pitchFamily="18" charset="0"/>
                            <a:ea typeface="Calibri" panose="020F0502020204030204" pitchFamily="34" charset="0"/>
                            <a:cs typeface="Mangal" panose="02040503050203030202" pitchFamily="18" charset="0"/>
                          </a:rPr>
                          <m:t>𝑥</m:t>
                        </m:r>
                        <m:sSup>
                          <m:sSupPr>
                            <m:ctrlPr>
                              <a:rPr lang="en-IN" sz="2400" i="1" kern="100">
                                <a:latin typeface="Cambria Math" panose="02040503050406030204" pitchFamily="18" charset="0"/>
                                <a:ea typeface="Calibri" panose="020F0502020204030204" pitchFamily="34" charset="0"/>
                                <a:cs typeface="Mangal" panose="02040503050203030202" pitchFamily="18" charset="0"/>
                              </a:rPr>
                            </m:ctrlPr>
                          </m:sSupPr>
                          <m:e>
                            <m:r>
                              <a:rPr lang="en-US" sz="2400" i="1" kern="100">
                                <a:latin typeface="Cambria Math" panose="02040503050406030204" pitchFamily="18" charset="0"/>
                                <a:ea typeface="Calibri" panose="020F0502020204030204" pitchFamily="34" charset="0"/>
                                <a:cs typeface="Mangal" panose="02040503050203030202" pitchFamily="18" charset="0"/>
                              </a:rPr>
                              <m:t>𝑦</m:t>
                            </m:r>
                          </m:e>
                          <m:sup>
                            <m:r>
                              <a:rPr lang="en-US" sz="2400" i="1" kern="100">
                                <a:latin typeface="Cambria Math" panose="02040503050406030204" pitchFamily="18" charset="0"/>
                                <a:ea typeface="Calibri" panose="020F0502020204030204" pitchFamily="34" charset="0"/>
                                <a:cs typeface="Mangal" panose="02040503050203030202" pitchFamily="18" charset="0"/>
                              </a:rPr>
                              <m:t>𝛾</m:t>
                            </m:r>
                            <m:r>
                              <a:rPr lang="en-US" sz="2400" i="1" kern="100">
                                <a:latin typeface="Cambria Math" panose="02040503050406030204" pitchFamily="18" charset="0"/>
                                <a:ea typeface="Calibri" panose="020F0502020204030204" pitchFamily="34" charset="0"/>
                                <a:cs typeface="Mangal" panose="02040503050203030202" pitchFamily="18" charset="0"/>
                              </a:rPr>
                              <m:t>−1</m:t>
                            </m:r>
                          </m:sup>
                        </m:sSup>
                        <m:r>
                          <a:rPr lang="en-US" sz="2400" i="1" kern="100">
                            <a:latin typeface="Cambria Math" panose="02040503050406030204" pitchFamily="18" charset="0"/>
                            <a:ea typeface="Calibri" panose="020F0502020204030204" pitchFamily="34" charset="0"/>
                            <a:cs typeface="Mangal" panose="02040503050203030202" pitchFamily="18" charset="0"/>
                          </a:rPr>
                          <m:t>−1</m:t>
                        </m:r>
                      </m:e>
                    </m:d>
                    <m:r>
                      <a:rPr lang="en-GB" sz="2400" b="0" i="1" kern="100" smtClean="0">
                        <a:latin typeface="Cambria Math" panose="02040503050406030204" pitchFamily="18" charset="0"/>
                        <a:ea typeface="Calibri" panose="020F0502020204030204" pitchFamily="34" charset="0"/>
                        <a:cs typeface="Mangal" panose="02040503050203030202" pitchFamily="18" charset="0"/>
                      </a:rPr>
                      <m:t>,  </m:t>
                    </m:r>
                    <m:r>
                      <a:rPr lang="en-US" sz="2400" i="1" kern="100">
                        <a:latin typeface="Cambria Math" panose="02040503050406030204" pitchFamily="18" charset="0"/>
                        <a:ea typeface="Calibri" panose="020F0502020204030204" pitchFamily="34" charset="0"/>
                        <a:cs typeface="Mangal" panose="02040503050203030202" pitchFamily="18" charset="0"/>
                      </a:rPr>
                      <m:t>𝛾</m:t>
                    </m:r>
                    <m:r>
                      <a:rPr lang="en-GB" sz="2400" b="0" i="1" kern="100" smtClean="0">
                        <a:latin typeface="Cambria Math" panose="02040503050406030204" pitchFamily="18" charset="0"/>
                        <a:ea typeface="Calibri" panose="020F0502020204030204" pitchFamily="34" charset="0"/>
                        <a:cs typeface="Mangal" panose="02040503050203030202" pitchFamily="18" charset="0"/>
                      </a:rPr>
                      <m:t>&gt;1</m:t>
                    </m:r>
                  </m:oMath>
                </a14:m>
                <a:endParaRPr lang="en-IN" dirty="0">
                  <a:latin typeface="Candara" panose="020E0502030303020204" pitchFamily="34" charset="0"/>
                </a:endParaRPr>
              </a:p>
              <a:p>
                <a:r>
                  <a:rPr lang="en-US" sz="1600" kern="100" dirty="0">
                    <a:latin typeface="Candara" panose="020E0502030303020204" pitchFamily="34" charset="0"/>
                    <a:ea typeface="Calibri" panose="020F0502020204030204" pitchFamily="34" charset="0"/>
                    <a:cs typeface="Mangal" panose="02040503050203030202" pitchFamily="18" charset="0"/>
                  </a:rPr>
                  <a:t>where</a:t>
                </a:r>
                <a:r>
                  <a:rPr lang="en-US" sz="1700" kern="100" dirty="0">
                    <a:ea typeface="Calibri" panose="020F0502020204030204" pitchFamily="34" charset="0"/>
                    <a:cs typeface="Mangal" panose="02040503050203030202" pitchFamily="18" charset="0"/>
                  </a:rPr>
                  <a:t> </a:t>
                </a:r>
                <a14:m>
                  <m:oMath xmlns:m="http://schemas.openxmlformats.org/officeDocument/2006/math">
                    <m:r>
                      <a:rPr lang="en-US" sz="1700" i="1" kern="100">
                        <a:latin typeface="Cambria Math" panose="02040503050406030204" pitchFamily="18" charset="0"/>
                        <a:ea typeface="Calibri" panose="020F0502020204030204" pitchFamily="34" charset="0"/>
                        <a:cs typeface="Mangal" panose="02040503050203030202" pitchFamily="18" charset="0"/>
                      </a:rPr>
                      <m:t>𝑥</m:t>
                    </m:r>
                  </m:oMath>
                </a14:m>
                <a:r>
                  <a:rPr lang="en-IN" sz="1700" dirty="0">
                    <a:latin typeface="Candara" panose="020E0502030303020204" pitchFamily="34" charset="0"/>
                  </a:rPr>
                  <a:t>, </a:t>
                </a:r>
                <a14:m>
                  <m:oMath xmlns:m="http://schemas.openxmlformats.org/officeDocument/2006/math">
                    <m:r>
                      <a:rPr lang="en-US" sz="1700" i="1" kern="100">
                        <a:latin typeface="Cambria Math" panose="02040503050406030204" pitchFamily="18" charset="0"/>
                        <a:ea typeface="Calibri" panose="020F0502020204030204" pitchFamily="34" charset="0"/>
                        <a:cs typeface="Mangal" panose="02040503050203030202" pitchFamily="18" charset="0"/>
                      </a:rPr>
                      <m:t>𝑦</m:t>
                    </m:r>
                  </m:oMath>
                </a14:m>
                <a:r>
                  <a:rPr lang="en-IN" sz="1700" dirty="0">
                    <a:latin typeface="Candara" panose="020E0502030303020204" pitchFamily="34" charset="0"/>
                  </a:rPr>
                  <a:t> and </a:t>
                </a:r>
                <a14:m>
                  <m:oMath xmlns:m="http://schemas.openxmlformats.org/officeDocument/2006/math">
                    <m:r>
                      <a:rPr lang="en-US" sz="1700" i="1" kern="100">
                        <a:latin typeface="Cambria Math" panose="02040503050406030204" pitchFamily="18" charset="0"/>
                        <a:ea typeface="Calibri" panose="020F0502020204030204" pitchFamily="34" charset="0"/>
                        <a:cs typeface="Mangal" panose="02040503050203030202" pitchFamily="18" charset="0"/>
                      </a:rPr>
                      <m:t>𝜏</m:t>
                    </m:r>
                  </m:oMath>
                </a14:m>
                <a:r>
                  <a:rPr lang="en-IN" sz="1700" dirty="0">
                    <a:latin typeface="Candara" panose="020E0502030303020204" pitchFamily="34" charset="0"/>
                  </a:rPr>
                  <a:t> are dimensionless variables that represent the concentrations of ATP and ADP, and time respectively.</a:t>
                </a:r>
              </a:p>
            </p:txBody>
          </p:sp>
        </mc:Choice>
        <mc:Fallback xmlns="">
          <p:sp>
            <p:nvSpPr>
              <p:cNvPr id="13" name="TextBox 12">
                <a:extLst>
                  <a:ext uri="{FF2B5EF4-FFF2-40B4-BE49-F238E27FC236}">
                    <a16:creationId xmlns:a16="http://schemas.microsoft.com/office/drawing/2014/main" id="{4BDC9FD4-1485-4FA9-BF8C-A1DB9FBF131A}"/>
                  </a:ext>
                </a:extLst>
              </p:cNvPr>
              <p:cNvSpPr txBox="1">
                <a:spLocks noRot="1" noChangeAspect="1" noMove="1" noResize="1" noEditPoints="1" noAdjustHandles="1" noChangeArrowheads="1" noChangeShapeType="1" noTextEdit="1"/>
              </p:cNvSpPr>
              <p:nvPr/>
            </p:nvSpPr>
            <p:spPr>
              <a:xfrm>
                <a:off x="5877557" y="3293842"/>
                <a:ext cx="6314443" cy="1147494"/>
              </a:xfrm>
              <a:prstGeom prst="rect">
                <a:avLst/>
              </a:prstGeom>
              <a:blipFill>
                <a:blip r:embed="rId4"/>
                <a:stretch>
                  <a:fillRect l="-579" b="-5820"/>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47834043-02DF-86E6-3398-BAE7A881A7DE}"/>
              </a:ext>
            </a:extLst>
          </p:cNvPr>
          <p:cNvSpPr txBox="1"/>
          <p:nvPr/>
        </p:nvSpPr>
        <p:spPr>
          <a:xfrm>
            <a:off x="99239" y="3436463"/>
            <a:ext cx="5801191" cy="1077218"/>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Dynamic</a:t>
            </a:r>
          </a:p>
          <a:p>
            <a:pPr marL="285750" indent="-285750">
              <a:buFont typeface="Arial" panose="020B0604020202020204" pitchFamily="34" charset="0"/>
              <a:buChar char="•"/>
            </a:pPr>
            <a:r>
              <a:rPr lang="en-GB" sz="1600">
                <a:latin typeface="Candara" panose="020E0502030303020204" pitchFamily="34" charset="0"/>
              </a:rPr>
              <a:t>Continuous-time</a:t>
            </a:r>
            <a:endParaRPr lang="en-GB" sz="1600" dirty="0">
              <a:latin typeface="Candara" panose="020E0502030303020204" pitchFamily="34" charset="0"/>
            </a:endParaRPr>
          </a:p>
          <a:p>
            <a:pPr marL="285750" indent="-285750">
              <a:buFont typeface="Arial" panose="020B0604020202020204" pitchFamily="34" charset="0"/>
              <a:buChar char="•"/>
            </a:pPr>
            <a:r>
              <a:rPr lang="en-GB" sz="1600" dirty="0">
                <a:latin typeface="Candara" panose="020E0502030303020204" pitchFamily="34" charset="0"/>
              </a:rPr>
              <a:t>Mechanistic (the model is based on a mechanism of the reaction catalysed by Phosphofructokinase)</a:t>
            </a:r>
          </a:p>
        </p:txBody>
      </p:sp>
      <p:sp>
        <p:nvSpPr>
          <p:cNvPr id="15" name="TextBox 14">
            <a:extLst>
              <a:ext uri="{FF2B5EF4-FFF2-40B4-BE49-F238E27FC236}">
                <a16:creationId xmlns:a16="http://schemas.microsoft.com/office/drawing/2014/main" id="{68C96584-0A9F-3DF8-9F0D-B8C5A090F023}"/>
              </a:ext>
            </a:extLst>
          </p:cNvPr>
          <p:cNvSpPr txBox="1"/>
          <p:nvPr/>
        </p:nvSpPr>
        <p:spPr>
          <a:xfrm>
            <a:off x="1971798" y="3428397"/>
            <a:ext cx="2596215" cy="584775"/>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Deterministic</a:t>
            </a:r>
          </a:p>
          <a:p>
            <a:pPr marL="285750" indent="-285750">
              <a:buFont typeface="Arial" panose="020B0604020202020204" pitchFamily="34" charset="0"/>
              <a:buChar char="•"/>
            </a:pPr>
            <a:r>
              <a:rPr lang="en-GB" sz="1600" dirty="0">
                <a:latin typeface="Candara" panose="020E0502030303020204" pitchFamily="34" charset="0"/>
              </a:rPr>
              <a:t>Single-scale</a:t>
            </a:r>
            <a:endParaRPr lang="en-IN" sz="1600" dirty="0">
              <a:latin typeface="Candara" panose="020E0502030303020204" pitchFamily="34" charset="0"/>
            </a:endParaRPr>
          </a:p>
        </p:txBody>
      </p:sp>
      <p:sp>
        <p:nvSpPr>
          <p:cNvPr id="11" name="TextBox 10">
            <a:extLst>
              <a:ext uri="{FF2B5EF4-FFF2-40B4-BE49-F238E27FC236}">
                <a16:creationId xmlns:a16="http://schemas.microsoft.com/office/drawing/2014/main" id="{49E725F4-11CF-C272-0F64-08EA141D84EC}"/>
              </a:ext>
            </a:extLst>
          </p:cNvPr>
          <p:cNvSpPr txBox="1"/>
          <p:nvPr/>
        </p:nvSpPr>
        <p:spPr>
          <a:xfrm>
            <a:off x="5809722" y="1953189"/>
            <a:ext cx="2273300"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Reaction Scheme</a:t>
            </a:r>
          </a:p>
        </p:txBody>
      </p:sp>
      <p:pic>
        <p:nvPicPr>
          <p:cNvPr id="16" name="Picture 15">
            <a:extLst>
              <a:ext uri="{FF2B5EF4-FFF2-40B4-BE49-F238E27FC236}">
                <a16:creationId xmlns:a16="http://schemas.microsoft.com/office/drawing/2014/main" id="{B59438AE-BC30-A2A2-757F-CAAD3270CEF6}"/>
              </a:ext>
            </a:extLst>
          </p:cNvPr>
          <p:cNvPicPr>
            <a:picLocks noChangeAspect="1"/>
          </p:cNvPicPr>
          <p:nvPr/>
        </p:nvPicPr>
        <p:blipFill>
          <a:blip r:embed="rId5"/>
          <a:stretch>
            <a:fillRect/>
          </a:stretch>
        </p:blipFill>
        <p:spPr>
          <a:xfrm>
            <a:off x="8880174" y="1865465"/>
            <a:ext cx="3192351" cy="1437708"/>
          </a:xfrm>
          <a:prstGeom prst="rect">
            <a:avLst/>
          </a:prstGeom>
        </p:spPr>
      </p:pic>
      <p:sp>
        <p:nvSpPr>
          <p:cNvPr id="17" name="TextBox 16">
            <a:extLst>
              <a:ext uri="{FF2B5EF4-FFF2-40B4-BE49-F238E27FC236}">
                <a16:creationId xmlns:a16="http://schemas.microsoft.com/office/drawing/2014/main" id="{3F3CDE1E-CEAF-F202-BCB6-7F60745C2D4B}"/>
              </a:ext>
            </a:extLst>
          </p:cNvPr>
          <p:cNvSpPr txBox="1"/>
          <p:nvPr/>
        </p:nvSpPr>
        <p:spPr>
          <a:xfrm>
            <a:off x="5809722" y="1198145"/>
            <a:ext cx="6314443" cy="830997"/>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The model does not consider the occurrence of double-frequency oscillations, reversible substrate sources, and the presence of multiple alternative steady states.</a:t>
            </a:r>
            <a:endParaRPr lang="en-IN" sz="1600" dirty="0">
              <a:latin typeface="Candara" panose="020E0502030303020204" pitchFamily="34" charset="0"/>
            </a:endParaRPr>
          </a:p>
        </p:txBody>
      </p:sp>
      <p:sp>
        <p:nvSpPr>
          <p:cNvPr id="18" name="TextBox 17">
            <a:extLst>
              <a:ext uri="{FF2B5EF4-FFF2-40B4-BE49-F238E27FC236}">
                <a16:creationId xmlns:a16="http://schemas.microsoft.com/office/drawing/2014/main" id="{FF439114-8038-F11B-DDB0-768C99685D4C}"/>
              </a:ext>
            </a:extLst>
          </p:cNvPr>
          <p:cNvSpPr txBox="1"/>
          <p:nvPr/>
        </p:nvSpPr>
        <p:spPr>
          <a:xfrm>
            <a:off x="5818251" y="818742"/>
            <a:ext cx="2273300"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Limitations </a:t>
            </a:r>
          </a:p>
        </p:txBody>
      </p:sp>
      <p:sp>
        <p:nvSpPr>
          <p:cNvPr id="19" name="TextBox 18">
            <a:extLst>
              <a:ext uri="{FF2B5EF4-FFF2-40B4-BE49-F238E27FC236}">
                <a16:creationId xmlns:a16="http://schemas.microsoft.com/office/drawing/2014/main" id="{9E9A61F5-42EE-D71E-4E08-96C63D42039F}"/>
              </a:ext>
            </a:extLst>
          </p:cNvPr>
          <p:cNvSpPr txBox="1"/>
          <p:nvPr/>
        </p:nvSpPr>
        <p:spPr>
          <a:xfrm>
            <a:off x="5809722" y="4319858"/>
            <a:ext cx="4993675" cy="400110"/>
          </a:xfrm>
          <a:prstGeom prst="rect">
            <a:avLst/>
          </a:prstGeom>
          <a:noFill/>
        </p:spPr>
        <p:txBody>
          <a:bodyPr wrap="none"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Model Simulation (code can be found </a:t>
            </a:r>
            <a:r>
              <a:rPr lang="en-GB" sz="2000" b="1">
                <a:effectLst>
                  <a:outerShdw blurRad="38100" dist="38100" dir="2700000" algn="tl">
                    <a:srgbClr val="000000">
                      <a:alpha val="43137"/>
                    </a:srgbClr>
                  </a:outerShdw>
                </a:effectLst>
                <a:latin typeface="Candara" panose="020E0502030303020204" pitchFamily="34" charset="0"/>
                <a:hlinkClick r:id="rId6">
                  <a:extLst>
                    <a:ext uri="{A12FA001-AC4F-418D-AE19-62706E023703}">
                      <ahyp:hlinkClr xmlns:ahyp="http://schemas.microsoft.com/office/drawing/2018/hyperlinkcolor" val="tx"/>
                    </a:ext>
                  </a:extLst>
                </a:hlinkClick>
              </a:rPr>
              <a:t>here</a:t>
            </a:r>
            <a:r>
              <a:rPr lang="en-GB" sz="2000" b="1">
                <a:effectLst>
                  <a:outerShdw blurRad="38100" dist="38100" dir="2700000" algn="tl">
                    <a:srgbClr val="000000">
                      <a:alpha val="43137"/>
                    </a:srgbClr>
                  </a:outerShdw>
                </a:effectLst>
                <a:latin typeface="Candara" panose="020E0502030303020204" pitchFamily="34" charset="0"/>
              </a:rPr>
              <a:t>)</a:t>
            </a:r>
            <a:endParaRPr lang="en-IN" sz="2000" b="1" dirty="0">
              <a:effectLst>
                <a:outerShdw blurRad="38100" dist="38100" dir="2700000" algn="tl">
                  <a:srgbClr val="000000">
                    <a:alpha val="43137"/>
                  </a:srgbClr>
                </a:outerShdw>
              </a:effectLst>
              <a:latin typeface="Candara" panose="020E0502030303020204" pitchFamily="34" charset="0"/>
            </a:endParaRPr>
          </a:p>
        </p:txBody>
      </p:sp>
      <p:pic>
        <p:nvPicPr>
          <p:cNvPr id="20" name="Picture 6">
            <a:extLst>
              <a:ext uri="{FF2B5EF4-FFF2-40B4-BE49-F238E27FC236}">
                <a16:creationId xmlns:a16="http://schemas.microsoft.com/office/drawing/2014/main" id="{AB70060E-3E31-8417-6A0F-C507208466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7084" y="4689539"/>
            <a:ext cx="1705878" cy="212681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a:extLst>
              <a:ext uri="{FF2B5EF4-FFF2-40B4-BE49-F238E27FC236}">
                <a16:creationId xmlns:a16="http://schemas.microsoft.com/office/drawing/2014/main" id="{99A9378F-152B-2DE3-64BE-26C009E137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70270" y="4689539"/>
            <a:ext cx="1669435" cy="208137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48B35BEA-825C-6A8D-FB98-D4CDD4D1CEA3}"/>
              </a:ext>
            </a:extLst>
          </p:cNvPr>
          <p:cNvSpPr txBox="1"/>
          <p:nvPr/>
        </p:nvSpPr>
        <p:spPr>
          <a:xfrm>
            <a:off x="5900430" y="4690374"/>
            <a:ext cx="461219" cy="338554"/>
          </a:xfrm>
          <a:prstGeom prst="rect">
            <a:avLst/>
          </a:prstGeom>
          <a:noFill/>
        </p:spPr>
        <p:txBody>
          <a:bodyPr wrap="square" rtlCol="0">
            <a:spAutoFit/>
          </a:bodyPr>
          <a:lstStyle/>
          <a:p>
            <a:r>
              <a:rPr lang="en-GB" sz="1600" dirty="0">
                <a:latin typeface="Candara" panose="020E0502030303020204" pitchFamily="34" charset="0"/>
              </a:rPr>
              <a:t>(a)</a:t>
            </a:r>
            <a:endParaRPr lang="en-IN" sz="1600" dirty="0">
              <a:latin typeface="Candara" panose="020E0502030303020204" pitchFamily="34" charset="0"/>
            </a:endParaRPr>
          </a:p>
        </p:txBody>
      </p:sp>
      <p:sp>
        <p:nvSpPr>
          <p:cNvPr id="24" name="TextBox 23">
            <a:extLst>
              <a:ext uri="{FF2B5EF4-FFF2-40B4-BE49-F238E27FC236}">
                <a16:creationId xmlns:a16="http://schemas.microsoft.com/office/drawing/2014/main" id="{BBEB541A-83C8-752D-2902-CA69EA860526}"/>
              </a:ext>
            </a:extLst>
          </p:cNvPr>
          <p:cNvSpPr txBox="1"/>
          <p:nvPr/>
        </p:nvSpPr>
        <p:spPr>
          <a:xfrm>
            <a:off x="8097614" y="4689539"/>
            <a:ext cx="461219" cy="338554"/>
          </a:xfrm>
          <a:prstGeom prst="rect">
            <a:avLst/>
          </a:prstGeom>
          <a:noFill/>
        </p:spPr>
        <p:txBody>
          <a:bodyPr wrap="square" rtlCol="0">
            <a:spAutoFit/>
          </a:bodyPr>
          <a:lstStyle/>
          <a:p>
            <a:r>
              <a:rPr lang="en-GB" sz="1600" dirty="0">
                <a:latin typeface="Candara" panose="020E0502030303020204" pitchFamily="34" charset="0"/>
              </a:rPr>
              <a:t>(b)</a:t>
            </a:r>
            <a:endParaRPr lang="en-IN" sz="1600" dirty="0">
              <a:latin typeface="Candara" panose="020E0502030303020204" pitchFamily="34" charset="0"/>
            </a:endParaRPr>
          </a:p>
        </p:txBody>
      </p:sp>
      <p:sp>
        <p:nvSpPr>
          <p:cNvPr id="25" name="TextBox 24">
            <a:extLst>
              <a:ext uri="{FF2B5EF4-FFF2-40B4-BE49-F238E27FC236}">
                <a16:creationId xmlns:a16="http://schemas.microsoft.com/office/drawing/2014/main" id="{E94DC3DE-0525-2808-4F62-F62A9975453C}"/>
              </a:ext>
            </a:extLst>
          </p:cNvPr>
          <p:cNvSpPr txBox="1"/>
          <p:nvPr/>
        </p:nvSpPr>
        <p:spPr>
          <a:xfrm>
            <a:off x="10374028" y="4780522"/>
            <a:ext cx="1735529" cy="2062103"/>
          </a:xfrm>
          <a:prstGeom prst="rect">
            <a:avLst/>
          </a:prstGeom>
          <a:noFill/>
        </p:spPr>
        <p:txBody>
          <a:bodyPr wrap="square" rtlCol="0">
            <a:spAutoFit/>
          </a:bodyPr>
          <a:lstStyle/>
          <a:p>
            <a:pPr marL="342900" indent="-342900">
              <a:buAutoNum type="alphaLcParenBoth"/>
            </a:pPr>
            <a:r>
              <a:rPr lang="en-GB" sz="1600" dirty="0">
                <a:latin typeface="Candara" panose="020E0502030303020204" pitchFamily="34" charset="0"/>
              </a:rPr>
              <a:t>Depicts Limit Cycle Oscillations.</a:t>
            </a:r>
          </a:p>
          <a:p>
            <a:pPr marL="342900" indent="-342900">
              <a:buAutoNum type="alphaLcParenBoth"/>
            </a:pPr>
            <a:endParaRPr lang="en-GB" sz="1600" dirty="0">
              <a:latin typeface="Candara" panose="020E0502030303020204" pitchFamily="34" charset="0"/>
            </a:endParaRPr>
          </a:p>
          <a:p>
            <a:pPr marL="342900" indent="-342900">
              <a:buAutoNum type="alphaLcParenBoth"/>
            </a:pPr>
            <a:r>
              <a:rPr lang="en-GB" sz="1600" dirty="0">
                <a:latin typeface="Candara" panose="020E0502030303020204" pitchFamily="34" charset="0"/>
              </a:rPr>
              <a:t>Depicts behaviour around a Stable Node.</a:t>
            </a:r>
            <a:endParaRPr lang="en-IN" sz="1600" dirty="0">
              <a:latin typeface="Candara" panose="020E0502030303020204" pitchFamily="34" charset="0"/>
            </a:endParaRPr>
          </a:p>
        </p:txBody>
      </p:sp>
      <p:sp>
        <p:nvSpPr>
          <p:cNvPr id="2" name="TextBox 1">
            <a:extLst>
              <a:ext uri="{FF2B5EF4-FFF2-40B4-BE49-F238E27FC236}">
                <a16:creationId xmlns:a16="http://schemas.microsoft.com/office/drawing/2014/main" id="{F1E3E61F-BE71-6463-03E1-85A8AAE2DBC2}"/>
              </a:ext>
            </a:extLst>
          </p:cNvPr>
          <p:cNvSpPr txBox="1"/>
          <p:nvPr/>
        </p:nvSpPr>
        <p:spPr>
          <a:xfrm>
            <a:off x="5819059" y="2977044"/>
            <a:ext cx="2824470"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Equations of the Model </a:t>
            </a:r>
          </a:p>
        </p:txBody>
      </p:sp>
      <p:sp>
        <p:nvSpPr>
          <p:cNvPr id="7" name="TextBox 6">
            <a:extLst>
              <a:ext uri="{FF2B5EF4-FFF2-40B4-BE49-F238E27FC236}">
                <a16:creationId xmlns:a16="http://schemas.microsoft.com/office/drawing/2014/main" id="{B460DF57-0D30-FCE9-27BE-8BCEA59933FF}"/>
              </a:ext>
            </a:extLst>
          </p:cNvPr>
          <p:cNvSpPr txBox="1"/>
          <p:nvPr/>
        </p:nvSpPr>
        <p:spPr>
          <a:xfrm>
            <a:off x="5900430" y="2257755"/>
            <a:ext cx="1444750" cy="830997"/>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S</a:t>
            </a:r>
            <a:r>
              <a:rPr lang="en-GB" sz="1600" baseline="-25000" dirty="0">
                <a:latin typeface="Candara" panose="020E0502030303020204" pitchFamily="34" charset="0"/>
              </a:rPr>
              <a:t>1</a:t>
            </a:r>
            <a:r>
              <a:rPr lang="en-GB" sz="1600" dirty="0">
                <a:latin typeface="Candara" panose="020E0502030303020204" pitchFamily="34" charset="0"/>
              </a:rPr>
              <a:t> – ATP</a:t>
            </a:r>
          </a:p>
          <a:p>
            <a:pPr marL="285750" indent="-285750">
              <a:buFont typeface="Arial" panose="020B0604020202020204" pitchFamily="34" charset="0"/>
              <a:buChar char="•"/>
            </a:pPr>
            <a:r>
              <a:rPr lang="en-GB" sz="1600" dirty="0">
                <a:latin typeface="Candara" panose="020E0502030303020204" pitchFamily="34" charset="0"/>
              </a:rPr>
              <a:t>S</a:t>
            </a:r>
            <a:r>
              <a:rPr lang="en-GB" sz="1600" baseline="-25000" dirty="0">
                <a:latin typeface="Candara" panose="020E0502030303020204" pitchFamily="34" charset="0"/>
              </a:rPr>
              <a:t>2</a:t>
            </a:r>
            <a:r>
              <a:rPr lang="en-GB" sz="1600" dirty="0">
                <a:latin typeface="Candara" panose="020E0502030303020204" pitchFamily="34" charset="0"/>
              </a:rPr>
              <a:t>– ADP</a:t>
            </a:r>
          </a:p>
          <a:p>
            <a:pPr marL="285750" indent="-285750">
              <a:buFont typeface="Arial" panose="020B0604020202020204" pitchFamily="34" charset="0"/>
              <a:buChar char="•"/>
            </a:pPr>
            <a:r>
              <a:rPr lang="en-GB" sz="1600" dirty="0">
                <a:latin typeface="Candara" panose="020E0502030303020204" pitchFamily="34" charset="0"/>
              </a:rPr>
              <a:t>E - Enzyme</a:t>
            </a:r>
            <a:endParaRPr lang="en-IN" sz="1600" dirty="0">
              <a:latin typeface="Candara" panose="020E0502030303020204" pitchFamily="34" charset="0"/>
            </a:endParaRPr>
          </a:p>
        </p:txBody>
      </p:sp>
      <p:sp>
        <p:nvSpPr>
          <p:cNvPr id="8" name="TextBox 7">
            <a:extLst>
              <a:ext uri="{FF2B5EF4-FFF2-40B4-BE49-F238E27FC236}">
                <a16:creationId xmlns:a16="http://schemas.microsoft.com/office/drawing/2014/main" id="{BC3CBF74-1A59-713D-EEAF-CCA7C9C42DD5}"/>
              </a:ext>
            </a:extLst>
          </p:cNvPr>
          <p:cNvSpPr txBox="1"/>
          <p:nvPr/>
        </p:nvSpPr>
        <p:spPr>
          <a:xfrm>
            <a:off x="7191573" y="2250486"/>
            <a:ext cx="2273300" cy="830997"/>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ES</a:t>
            </a:r>
            <a:r>
              <a:rPr lang="en-GB" sz="1600" baseline="-25000" dirty="0">
                <a:latin typeface="Candara" panose="020E0502030303020204" pitchFamily="34" charset="0"/>
              </a:rPr>
              <a:t>2</a:t>
            </a:r>
            <a:r>
              <a:rPr lang="en-GB" sz="1600" baseline="30000" dirty="0">
                <a:latin typeface="Candara" panose="020E0502030303020204" pitchFamily="34" charset="0"/>
              </a:rPr>
              <a:t>γ</a:t>
            </a:r>
            <a:r>
              <a:rPr lang="en-IN" sz="1600" baseline="30000" dirty="0">
                <a:latin typeface="Candara" panose="020E0502030303020204" pitchFamily="34" charset="0"/>
              </a:rPr>
              <a:t> </a:t>
            </a:r>
            <a:r>
              <a:rPr lang="en-GB" sz="1600" dirty="0">
                <a:latin typeface="Candara" panose="020E0502030303020204" pitchFamily="34" charset="0"/>
              </a:rPr>
              <a:t>– transition state of the enzyme</a:t>
            </a:r>
          </a:p>
          <a:p>
            <a:pPr marL="285750" indent="-285750">
              <a:buFont typeface="Arial" panose="020B0604020202020204" pitchFamily="34" charset="0"/>
              <a:buChar char="•"/>
            </a:pPr>
            <a:r>
              <a:rPr lang="en-GB" sz="1600" dirty="0">
                <a:latin typeface="Candara" panose="020E0502030303020204" pitchFamily="34" charset="0"/>
              </a:rPr>
              <a:t>S</a:t>
            </a:r>
            <a:r>
              <a:rPr lang="en-GB" sz="1600" baseline="-25000" dirty="0">
                <a:latin typeface="Candara" panose="020E0502030303020204" pitchFamily="34" charset="0"/>
              </a:rPr>
              <a:t>1</a:t>
            </a:r>
            <a:r>
              <a:rPr lang="en-GB" sz="1600" dirty="0">
                <a:latin typeface="Candara" panose="020E0502030303020204" pitchFamily="34" charset="0"/>
              </a:rPr>
              <a:t>ES</a:t>
            </a:r>
            <a:r>
              <a:rPr lang="en-GB" sz="1600" baseline="-25000" dirty="0">
                <a:latin typeface="Candara" panose="020E0502030303020204" pitchFamily="34" charset="0"/>
              </a:rPr>
              <a:t>2</a:t>
            </a:r>
            <a:r>
              <a:rPr lang="en-GB" sz="1600" baseline="30000" dirty="0">
                <a:latin typeface="Candara" panose="020E0502030303020204" pitchFamily="34" charset="0"/>
              </a:rPr>
              <a:t>γ</a:t>
            </a:r>
            <a:r>
              <a:rPr lang="en-GB" sz="1600" dirty="0">
                <a:latin typeface="Candara" panose="020E0502030303020204" pitchFamily="34" charset="0"/>
              </a:rPr>
              <a:t>– active form</a:t>
            </a:r>
          </a:p>
        </p:txBody>
      </p:sp>
    </p:spTree>
    <p:extLst>
      <p:ext uri="{BB962C8B-B14F-4D97-AF65-F5344CB8AC3E}">
        <p14:creationId xmlns:p14="http://schemas.microsoft.com/office/powerpoint/2010/main" val="3188589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778EC-F5EE-2DB6-09C9-47CBDAD0129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DEB3FD7-7D74-29E4-8C15-51731E534FD8}"/>
              </a:ext>
            </a:extLst>
          </p:cNvPr>
          <p:cNvSpPr>
            <a:spLocks noGrp="1"/>
          </p:cNvSpPr>
          <p:nvPr>
            <p:ph type="subTitle" idx="1"/>
          </p:nvPr>
        </p:nvSpPr>
        <p:spPr>
          <a:xfrm>
            <a:off x="0" y="0"/>
            <a:ext cx="12192000" cy="839449"/>
          </a:xfrm>
          <a:solidFill>
            <a:schemeClr val="accent1">
              <a:lumMod val="75000"/>
            </a:schemeClr>
          </a:solidFill>
        </p:spPr>
        <p:txBody>
          <a:bodyPr>
            <a:normAutofit/>
          </a:bodyPr>
          <a:lstStyle/>
          <a:p>
            <a:pPr algn="l">
              <a:lnSpc>
                <a:spcPct val="150000"/>
              </a:lnSpc>
            </a:pPr>
            <a:r>
              <a:rPr lang="en-GB" sz="2800" dirty="0">
                <a:solidFill>
                  <a:schemeClr val="bg1"/>
                </a:solidFill>
                <a:effectLst>
                  <a:outerShdw blurRad="38100" dist="38100" dir="2700000" algn="tl">
                    <a:srgbClr val="000000">
                      <a:alpha val="43137"/>
                    </a:srgbClr>
                  </a:outerShdw>
                </a:effectLst>
                <a:latin typeface="Candara" panose="020E0502030303020204" pitchFamily="34" charset="0"/>
              </a:rPr>
              <a:t>Constraint-based Modelling for the study of Polymicrobial Infections</a:t>
            </a:r>
            <a:endParaRPr lang="en-IN" sz="2800" dirty="0">
              <a:solidFill>
                <a:schemeClr val="bg1"/>
              </a:solidFill>
              <a:effectLst>
                <a:outerShdw blurRad="38100" dist="38100" dir="2700000" algn="tl">
                  <a:srgbClr val="000000">
                    <a:alpha val="43137"/>
                  </a:srgbClr>
                </a:outerShdw>
              </a:effectLst>
              <a:latin typeface="Candara" panose="020E0502030303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4DD93FA-3C59-25F7-5803-449198CB9430}"/>
              </a:ext>
            </a:extLst>
          </p:cNvPr>
          <p:cNvSpPr txBox="1"/>
          <p:nvPr/>
        </p:nvSpPr>
        <p:spPr>
          <a:xfrm>
            <a:off x="54951" y="3884666"/>
            <a:ext cx="3269905"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Objectives of the project</a:t>
            </a:r>
          </a:p>
        </p:txBody>
      </p:sp>
      <p:sp>
        <p:nvSpPr>
          <p:cNvPr id="5" name="TextBox 4">
            <a:extLst>
              <a:ext uri="{FF2B5EF4-FFF2-40B4-BE49-F238E27FC236}">
                <a16:creationId xmlns:a16="http://schemas.microsoft.com/office/drawing/2014/main" id="{0A433069-7CD6-880B-1DDD-4965AC496B13}"/>
              </a:ext>
            </a:extLst>
          </p:cNvPr>
          <p:cNvSpPr txBox="1"/>
          <p:nvPr/>
        </p:nvSpPr>
        <p:spPr>
          <a:xfrm>
            <a:off x="43513" y="1172840"/>
            <a:ext cx="5801193" cy="2800767"/>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GEMs have been used to study the integrated host-pathogen metabolic networks and the metabolism of pathogens during co-infections in culture media.</a:t>
            </a:r>
          </a:p>
          <a:p>
            <a:pPr marL="285750" indent="-285750">
              <a:buFont typeface="Arial" panose="020B0604020202020204" pitchFamily="34" charset="0"/>
              <a:buChar char="•"/>
            </a:pPr>
            <a:r>
              <a:rPr lang="en-GB" sz="1600" dirty="0">
                <a:latin typeface="Candara" panose="020E0502030303020204" pitchFamily="34" charset="0"/>
              </a:rPr>
              <a:t>However, models that integrate the host metabolic network with the metabolic networks of multiple coinfecting pathogens in polymicrobial diseases have not been investigated.</a:t>
            </a:r>
          </a:p>
          <a:p>
            <a:pPr marL="285750" indent="-285750">
              <a:buFont typeface="Arial" panose="020B0604020202020204" pitchFamily="34" charset="0"/>
              <a:buChar char="•"/>
            </a:pPr>
            <a:r>
              <a:rPr lang="en-GB" sz="1600" dirty="0">
                <a:latin typeface="Candara" panose="020E0502030303020204" pitchFamily="34" charset="0"/>
              </a:rPr>
              <a:t>This project aims to utilize previously published GEMs of the human small intestine epithelial cells, </a:t>
            </a:r>
            <a:r>
              <a:rPr lang="en-GB" sz="1600" i="1" dirty="0">
                <a:latin typeface="Candara" panose="020E0502030303020204" pitchFamily="34" charset="0"/>
              </a:rPr>
              <a:t>V. cholerae</a:t>
            </a:r>
            <a:r>
              <a:rPr lang="en-GB" sz="1600" dirty="0">
                <a:latin typeface="Candara" panose="020E0502030303020204" pitchFamily="34" charset="0"/>
              </a:rPr>
              <a:t>, and </a:t>
            </a:r>
            <a:r>
              <a:rPr lang="en-GB" sz="1600" i="1" dirty="0">
                <a:latin typeface="Candara" panose="020E0502030303020204" pitchFamily="34" charset="0"/>
              </a:rPr>
              <a:t>E. coli </a:t>
            </a:r>
            <a:r>
              <a:rPr lang="en-GB" sz="1600" dirty="0">
                <a:latin typeface="Candara" panose="020E0502030303020204" pitchFamily="34" charset="0"/>
              </a:rPr>
              <a:t>to construct an integrated metabolic network comprising the host cell and coinfecting pathogens.</a:t>
            </a:r>
          </a:p>
        </p:txBody>
      </p:sp>
      <p:sp>
        <p:nvSpPr>
          <p:cNvPr id="13" name="TextBox 12">
            <a:extLst>
              <a:ext uri="{FF2B5EF4-FFF2-40B4-BE49-F238E27FC236}">
                <a16:creationId xmlns:a16="http://schemas.microsoft.com/office/drawing/2014/main" id="{B4DD1416-059D-7994-56C3-01721D438B54}"/>
              </a:ext>
            </a:extLst>
          </p:cNvPr>
          <p:cNvSpPr txBox="1"/>
          <p:nvPr/>
        </p:nvSpPr>
        <p:spPr>
          <a:xfrm>
            <a:off x="6000749" y="3293842"/>
            <a:ext cx="6314443" cy="353943"/>
          </a:xfrm>
          <a:prstGeom prst="rect">
            <a:avLst/>
          </a:prstGeom>
          <a:noFill/>
        </p:spPr>
        <p:txBody>
          <a:bodyPr wrap="square" rtlCol="0">
            <a:spAutoFit/>
          </a:bodyPr>
          <a:lstStyle/>
          <a:p>
            <a:endParaRPr lang="en-IN" sz="1700" dirty="0">
              <a:latin typeface="Candara" panose="020E0502030303020204" pitchFamily="34" charset="0"/>
            </a:endParaRPr>
          </a:p>
        </p:txBody>
      </p:sp>
      <p:sp>
        <p:nvSpPr>
          <p:cNvPr id="14" name="TextBox 13">
            <a:extLst>
              <a:ext uri="{FF2B5EF4-FFF2-40B4-BE49-F238E27FC236}">
                <a16:creationId xmlns:a16="http://schemas.microsoft.com/office/drawing/2014/main" id="{587E8C13-31A8-130B-CFBB-70DDDAD7995F}"/>
              </a:ext>
            </a:extLst>
          </p:cNvPr>
          <p:cNvSpPr txBox="1"/>
          <p:nvPr/>
        </p:nvSpPr>
        <p:spPr>
          <a:xfrm>
            <a:off x="54951" y="4284777"/>
            <a:ext cx="5754771" cy="2554545"/>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Simulate the results of a previous study describing an integrated metabolic model of </a:t>
            </a:r>
            <a:r>
              <a:rPr lang="en-GB" sz="1600" i="1" dirty="0">
                <a:latin typeface="Candara" panose="020E0502030303020204" pitchFamily="34" charset="0"/>
              </a:rPr>
              <a:t>V. cholerae </a:t>
            </a:r>
            <a:r>
              <a:rPr lang="en-GB" sz="1600" dirty="0">
                <a:latin typeface="Candara" panose="020E0502030303020204" pitchFamily="34" charset="0"/>
              </a:rPr>
              <a:t>and </a:t>
            </a:r>
            <a:r>
              <a:rPr lang="en-GB" sz="1600" i="1" dirty="0">
                <a:latin typeface="Candara" panose="020E0502030303020204" pitchFamily="34" charset="0"/>
              </a:rPr>
              <a:t>E. coli</a:t>
            </a:r>
            <a:r>
              <a:rPr lang="en-GB" sz="1600" dirty="0">
                <a:latin typeface="Candara" panose="020E0502030303020204" pitchFamily="34" charset="0"/>
              </a:rPr>
              <a:t>.</a:t>
            </a:r>
          </a:p>
          <a:p>
            <a:pPr marL="285750" indent="-285750">
              <a:buFont typeface="Arial" panose="020B0604020202020204" pitchFamily="34" charset="0"/>
              <a:buChar char="•"/>
            </a:pPr>
            <a:r>
              <a:rPr lang="en-GB" sz="1600" dirty="0">
                <a:latin typeface="Candara" panose="020E0502030303020204" pitchFamily="34" charset="0"/>
              </a:rPr>
              <a:t>Construct an integrated model of the metabolic networks of the small intestine epithelial cell, </a:t>
            </a:r>
            <a:r>
              <a:rPr lang="en-GB" sz="1600" i="1" dirty="0">
                <a:latin typeface="Candara" panose="020E0502030303020204" pitchFamily="34" charset="0"/>
              </a:rPr>
              <a:t>V. cholerae, </a:t>
            </a:r>
            <a:r>
              <a:rPr lang="en-GB" sz="1600" dirty="0">
                <a:latin typeface="Candara" panose="020E0502030303020204" pitchFamily="34" charset="0"/>
              </a:rPr>
              <a:t>and </a:t>
            </a:r>
            <a:r>
              <a:rPr lang="en-GB" sz="1600" i="1" dirty="0">
                <a:latin typeface="Candara" panose="020E0502030303020204" pitchFamily="34" charset="0"/>
              </a:rPr>
              <a:t>E. coli</a:t>
            </a:r>
            <a:r>
              <a:rPr lang="en-GB" sz="1600" dirty="0">
                <a:latin typeface="Candara" panose="020E0502030303020204" pitchFamily="34" charset="0"/>
              </a:rPr>
              <a:t>.</a:t>
            </a:r>
          </a:p>
          <a:p>
            <a:pPr marL="285750" indent="-285750">
              <a:buFont typeface="Arial" panose="020B0604020202020204" pitchFamily="34" charset="0"/>
              <a:buChar char="•"/>
            </a:pPr>
            <a:r>
              <a:rPr lang="en-GB" sz="1600" dirty="0">
                <a:latin typeface="Candara" panose="020E0502030303020204" pitchFamily="34" charset="0"/>
              </a:rPr>
              <a:t>Define a suitable extracellular medium and objective function for the integrated model.</a:t>
            </a:r>
          </a:p>
          <a:p>
            <a:pPr marL="285750" indent="-285750">
              <a:buFont typeface="Arial" panose="020B0604020202020204" pitchFamily="34" charset="0"/>
              <a:buChar char="•"/>
            </a:pPr>
            <a:r>
              <a:rPr lang="en-GB" sz="1600" dirty="0">
                <a:latin typeface="Candara" panose="020E0502030303020204" pitchFamily="34" charset="0"/>
              </a:rPr>
              <a:t>Perform gene deletion analysis to determine essential genes for the pathogens in the host-coinfection model, and determine if they vary from the individual and co-infection models.</a:t>
            </a:r>
          </a:p>
        </p:txBody>
      </p:sp>
      <p:sp>
        <p:nvSpPr>
          <p:cNvPr id="18" name="TextBox 17">
            <a:extLst>
              <a:ext uri="{FF2B5EF4-FFF2-40B4-BE49-F238E27FC236}">
                <a16:creationId xmlns:a16="http://schemas.microsoft.com/office/drawing/2014/main" id="{ADE47667-14C5-9927-5B8F-AE7A3AC88892}"/>
              </a:ext>
            </a:extLst>
          </p:cNvPr>
          <p:cNvSpPr txBox="1"/>
          <p:nvPr/>
        </p:nvSpPr>
        <p:spPr>
          <a:xfrm>
            <a:off x="5809722" y="846941"/>
            <a:ext cx="2273300"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Current status </a:t>
            </a:r>
          </a:p>
        </p:txBody>
      </p:sp>
      <p:sp>
        <p:nvSpPr>
          <p:cNvPr id="19" name="TextBox 18">
            <a:extLst>
              <a:ext uri="{FF2B5EF4-FFF2-40B4-BE49-F238E27FC236}">
                <a16:creationId xmlns:a16="http://schemas.microsoft.com/office/drawing/2014/main" id="{40F90B16-651D-1DBE-B937-A1D95CD65300}"/>
              </a:ext>
            </a:extLst>
          </p:cNvPr>
          <p:cNvSpPr txBox="1"/>
          <p:nvPr/>
        </p:nvSpPr>
        <p:spPr>
          <a:xfrm>
            <a:off x="5943030" y="3592088"/>
            <a:ext cx="1550424" cy="400110"/>
          </a:xfrm>
          <a:prstGeom prst="rect">
            <a:avLst/>
          </a:prstGeom>
          <a:noFill/>
        </p:spPr>
        <p:txBody>
          <a:bodyPr wrap="none"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Future Plans</a:t>
            </a:r>
            <a:endParaRPr lang="en-IN" sz="2000" b="1" dirty="0">
              <a:effectLst>
                <a:outerShdw blurRad="38100" dist="38100" dir="2700000" algn="tl">
                  <a:srgbClr val="000000">
                    <a:alpha val="43137"/>
                  </a:srgbClr>
                </a:outerShdw>
              </a:effectLst>
              <a:latin typeface="Candara" panose="020E0502030303020204" pitchFamily="34" charset="0"/>
            </a:endParaRPr>
          </a:p>
        </p:txBody>
      </p:sp>
      <p:sp>
        <p:nvSpPr>
          <p:cNvPr id="2" name="TextBox 1">
            <a:extLst>
              <a:ext uri="{FF2B5EF4-FFF2-40B4-BE49-F238E27FC236}">
                <a16:creationId xmlns:a16="http://schemas.microsoft.com/office/drawing/2014/main" id="{62C6F0CB-FE2E-555D-643E-C3A058406DFB}"/>
              </a:ext>
            </a:extLst>
          </p:cNvPr>
          <p:cNvSpPr txBox="1"/>
          <p:nvPr/>
        </p:nvSpPr>
        <p:spPr>
          <a:xfrm>
            <a:off x="5902425" y="2415427"/>
            <a:ext cx="2824470"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Challenges </a:t>
            </a:r>
          </a:p>
        </p:txBody>
      </p:sp>
      <p:sp>
        <p:nvSpPr>
          <p:cNvPr id="9" name="TextBox 8">
            <a:extLst>
              <a:ext uri="{FF2B5EF4-FFF2-40B4-BE49-F238E27FC236}">
                <a16:creationId xmlns:a16="http://schemas.microsoft.com/office/drawing/2014/main" id="{3D726DF5-9FEC-058A-FEE2-F666F1B5DC14}"/>
              </a:ext>
            </a:extLst>
          </p:cNvPr>
          <p:cNvSpPr txBox="1"/>
          <p:nvPr/>
        </p:nvSpPr>
        <p:spPr>
          <a:xfrm>
            <a:off x="54950" y="806203"/>
            <a:ext cx="3269905" cy="400110"/>
          </a:xfrm>
          <a:prstGeom prst="rect">
            <a:avLst/>
          </a:prstGeom>
          <a:noFill/>
        </p:spPr>
        <p:txBody>
          <a:bodyPr wrap="square" numCol="1"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Motivation for the project</a:t>
            </a:r>
          </a:p>
        </p:txBody>
      </p:sp>
      <p:sp>
        <p:nvSpPr>
          <p:cNvPr id="10" name="TextBox 9">
            <a:extLst>
              <a:ext uri="{FF2B5EF4-FFF2-40B4-BE49-F238E27FC236}">
                <a16:creationId xmlns:a16="http://schemas.microsoft.com/office/drawing/2014/main" id="{A37902F3-003E-65E9-A47C-45DFDBAA347E}"/>
              </a:ext>
            </a:extLst>
          </p:cNvPr>
          <p:cNvSpPr txBox="1"/>
          <p:nvPr/>
        </p:nvSpPr>
        <p:spPr>
          <a:xfrm>
            <a:off x="5902425" y="1213935"/>
            <a:ext cx="5801193" cy="1323439"/>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Studied the co-infection model of </a:t>
            </a:r>
            <a:r>
              <a:rPr lang="en-GB" sz="1600" i="1" dirty="0">
                <a:latin typeface="Candara" panose="020E0502030303020204" pitchFamily="34" charset="0"/>
              </a:rPr>
              <a:t>V. cholerae, </a:t>
            </a:r>
            <a:r>
              <a:rPr lang="en-GB" sz="1600" dirty="0">
                <a:latin typeface="Candara" panose="020E0502030303020204" pitchFamily="34" charset="0"/>
              </a:rPr>
              <a:t>and </a:t>
            </a:r>
            <a:r>
              <a:rPr lang="en-GB" sz="1600" i="1" dirty="0">
                <a:latin typeface="Candara" panose="020E0502030303020204" pitchFamily="34" charset="0"/>
              </a:rPr>
              <a:t>E. coli by </a:t>
            </a:r>
            <a:r>
              <a:rPr lang="en-GB" sz="1600" dirty="0">
                <a:latin typeface="Candara" panose="020E0502030303020204" pitchFamily="34" charset="0"/>
              </a:rPr>
              <a:t>replicating the results in [1] by:</a:t>
            </a:r>
            <a:endParaRPr lang="en-GB" sz="1600" i="1" dirty="0">
              <a:latin typeface="Candara" panose="020E0502030303020204" pitchFamily="34" charset="0"/>
            </a:endParaRPr>
          </a:p>
          <a:p>
            <a:pPr marL="342900" indent="-342900">
              <a:buFont typeface="+mj-lt"/>
              <a:buAutoNum type="arabicPeriod"/>
            </a:pPr>
            <a:r>
              <a:rPr lang="en-GB" sz="1600" dirty="0">
                <a:latin typeface="Candara" panose="020E0502030303020204" pitchFamily="34" charset="0"/>
              </a:rPr>
              <a:t>Performing gene deletion analysis </a:t>
            </a:r>
          </a:p>
          <a:p>
            <a:pPr marL="342900" indent="-342900">
              <a:buFont typeface="+mj-lt"/>
              <a:buAutoNum type="arabicPeriod"/>
            </a:pPr>
            <a:r>
              <a:rPr lang="en-GB" sz="1600" dirty="0">
                <a:latin typeface="Candara" panose="020E0502030303020204" pitchFamily="34" charset="0"/>
              </a:rPr>
              <a:t>Analysing growth capabilities in different media, to study differences between the individual and co-infection models</a:t>
            </a:r>
          </a:p>
        </p:txBody>
      </p:sp>
      <p:sp>
        <p:nvSpPr>
          <p:cNvPr id="12" name="TextBox 11">
            <a:extLst>
              <a:ext uri="{FF2B5EF4-FFF2-40B4-BE49-F238E27FC236}">
                <a16:creationId xmlns:a16="http://schemas.microsoft.com/office/drawing/2014/main" id="{4BAAD5D6-F6A4-1B2A-6C87-603261AA8D75}"/>
              </a:ext>
            </a:extLst>
          </p:cNvPr>
          <p:cNvSpPr txBox="1"/>
          <p:nvPr/>
        </p:nvSpPr>
        <p:spPr>
          <a:xfrm>
            <a:off x="5902425" y="2815838"/>
            <a:ext cx="6032400" cy="830997"/>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Several GEMs of the human or mouse small intestine have been published, but most do not follow the ‘best practices’ recommended by COBRApy.</a:t>
            </a:r>
          </a:p>
        </p:txBody>
      </p:sp>
      <p:sp>
        <p:nvSpPr>
          <p:cNvPr id="22" name="TextBox 21">
            <a:extLst>
              <a:ext uri="{FF2B5EF4-FFF2-40B4-BE49-F238E27FC236}">
                <a16:creationId xmlns:a16="http://schemas.microsoft.com/office/drawing/2014/main" id="{2F6C3980-B4D1-ED6D-7313-BE630DBF993F}"/>
              </a:ext>
            </a:extLst>
          </p:cNvPr>
          <p:cNvSpPr txBox="1"/>
          <p:nvPr/>
        </p:nvSpPr>
        <p:spPr>
          <a:xfrm>
            <a:off x="5844706" y="3943755"/>
            <a:ext cx="5801193" cy="1077218"/>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ndara" panose="020E0502030303020204" pitchFamily="34" charset="0"/>
              </a:rPr>
              <a:t>Identification of a suitable host GEM and integration of the host and co-infection GEMs.</a:t>
            </a:r>
          </a:p>
          <a:p>
            <a:pPr marL="285750" indent="-285750">
              <a:buFont typeface="Arial" panose="020B0604020202020204" pitchFamily="34" charset="0"/>
              <a:buChar char="•"/>
            </a:pPr>
            <a:r>
              <a:rPr lang="en-GB" sz="1600" dirty="0">
                <a:latin typeface="Candara" panose="020E0502030303020204" pitchFamily="34" charset="0"/>
              </a:rPr>
              <a:t>Performing gene essentiality and growth capabilities analysis, and comparing with individual and co-infection models.</a:t>
            </a:r>
          </a:p>
        </p:txBody>
      </p:sp>
      <p:sp>
        <p:nvSpPr>
          <p:cNvPr id="26" name="TextBox 25">
            <a:extLst>
              <a:ext uri="{FF2B5EF4-FFF2-40B4-BE49-F238E27FC236}">
                <a16:creationId xmlns:a16="http://schemas.microsoft.com/office/drawing/2014/main" id="{B7AC25BF-FF6F-D35C-D978-C6EFBB1D6873}"/>
              </a:ext>
            </a:extLst>
          </p:cNvPr>
          <p:cNvSpPr txBox="1"/>
          <p:nvPr/>
        </p:nvSpPr>
        <p:spPr>
          <a:xfrm>
            <a:off x="5902425" y="4991767"/>
            <a:ext cx="1309974" cy="400110"/>
          </a:xfrm>
          <a:prstGeom prst="rect">
            <a:avLst/>
          </a:prstGeom>
          <a:noFill/>
        </p:spPr>
        <p:txBody>
          <a:bodyPr wrap="none" rtlCol="0">
            <a:spAutoFit/>
          </a:bodyPr>
          <a:lstStyle/>
          <a:p>
            <a:r>
              <a:rPr lang="en-GB" sz="2000" b="1" dirty="0">
                <a:effectLst>
                  <a:outerShdw blurRad="38100" dist="38100" dir="2700000" algn="tl">
                    <a:srgbClr val="000000">
                      <a:alpha val="43137"/>
                    </a:srgbClr>
                  </a:outerShdw>
                </a:effectLst>
                <a:latin typeface="Candara" panose="020E0502030303020204" pitchFamily="34" charset="0"/>
              </a:rPr>
              <a:t>Reference</a:t>
            </a:r>
            <a:endParaRPr lang="en-IN" sz="2000" b="1" dirty="0">
              <a:effectLst>
                <a:outerShdw blurRad="38100" dist="38100" dir="2700000" algn="tl">
                  <a:srgbClr val="000000">
                    <a:alpha val="43137"/>
                  </a:srgbClr>
                </a:outerShdw>
              </a:effectLst>
              <a:latin typeface="Candara" panose="020E0502030303020204" pitchFamily="34" charset="0"/>
            </a:endParaRPr>
          </a:p>
        </p:txBody>
      </p:sp>
      <p:sp>
        <p:nvSpPr>
          <p:cNvPr id="27" name="TextBox 26">
            <a:extLst>
              <a:ext uri="{FF2B5EF4-FFF2-40B4-BE49-F238E27FC236}">
                <a16:creationId xmlns:a16="http://schemas.microsoft.com/office/drawing/2014/main" id="{19516620-D6CF-8B67-8435-552906DBE675}"/>
              </a:ext>
            </a:extLst>
          </p:cNvPr>
          <p:cNvSpPr txBox="1"/>
          <p:nvPr/>
        </p:nvSpPr>
        <p:spPr>
          <a:xfrm>
            <a:off x="5844706" y="5379988"/>
            <a:ext cx="6263995" cy="1323439"/>
          </a:xfrm>
          <a:prstGeom prst="rect">
            <a:avLst/>
          </a:prstGeom>
          <a:noFill/>
        </p:spPr>
        <p:txBody>
          <a:bodyPr wrap="square" rtlCol="0">
            <a:spAutoFit/>
          </a:bodyPr>
          <a:lstStyle/>
          <a:p>
            <a:pPr marL="342900" indent="-342900">
              <a:buFont typeface="+mj-lt"/>
              <a:buAutoNum type="arabicPeriod"/>
            </a:pPr>
            <a:r>
              <a:rPr lang="en-IN" sz="1600" dirty="0">
                <a:latin typeface="Candara" panose="020E0502030303020204" pitchFamily="34" charset="0"/>
              </a:rPr>
              <a:t>Abdel-Haleem AM, Ravikumar V, Ji B, Mineta K, et al. Integrated Metabolic Modeling, Culturing, and Transcriptomics Explain Enhanced Virulence of Vibrio cholerae during Coinfection with Enterotoxigenic Escherichia coli. mSystems. 2020 Sep 8;5(5):e00491-20. doi: 10.1128/mSystems.00491-20. </a:t>
            </a:r>
            <a:endParaRPr lang="en-GB" sz="1600" dirty="0">
              <a:latin typeface="Candara" panose="020E0502030303020204" pitchFamily="34" charset="0"/>
            </a:endParaRPr>
          </a:p>
        </p:txBody>
      </p:sp>
    </p:spTree>
    <p:extLst>
      <p:ext uri="{BB962C8B-B14F-4D97-AF65-F5344CB8AC3E}">
        <p14:creationId xmlns:p14="http://schemas.microsoft.com/office/powerpoint/2010/main" val="147048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624</Words>
  <Application>Microsoft Office PowerPoint</Application>
  <PresentationFormat>Widescreen</PresentationFormat>
  <Paragraphs>52</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Cambria Math</vt:lpstr>
      <vt:lpstr>Candara</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Krushanu Patki</dc:creator>
  <cp:lastModifiedBy>Krushanu Patki</cp:lastModifiedBy>
  <cp:revision>18</cp:revision>
  <dcterms:created xsi:type="dcterms:W3CDTF">2026-02-02T14:23:26Z</dcterms:created>
  <dcterms:modified xsi:type="dcterms:W3CDTF">2026-04-06T01:49:46Z</dcterms:modified>
</cp:coreProperties>
</file>